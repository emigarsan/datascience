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Instrument Sans Medium" panose="020B0604020202020204" charset="0"/>
      <p:regular r:id="rId12"/>
    </p:embeddedFont>
    <p:embeddedFont>
      <p:font typeface="Instrument Sans SemiBold" panose="020B0604020202020204" charset="0"/>
      <p:regular r:id="rId13"/>
    </p:embeddedFont>
  </p:embeddedFontLst>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92" autoAdjust="0"/>
    <p:restoredTop sz="96283" autoAdjust="0"/>
  </p:normalViewPr>
  <p:slideViewPr>
    <p:cSldViewPr snapToGrid="0" snapToObjects="1">
      <p:cViewPr varScale="1">
        <p:scale>
          <a:sx n="138" d="100"/>
          <a:sy n="138" d="100"/>
        </p:scale>
        <p:origin x="114" y="180"/>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2246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6" name="Imagen 5">
            <a:extLst>
              <a:ext uri="{FF2B5EF4-FFF2-40B4-BE49-F238E27FC236}">
                <a16:creationId xmlns:a16="http://schemas.microsoft.com/office/drawing/2014/main" id="{B55E9553-E4C4-3A9B-28E1-F9CDC331274C}"/>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18FE74A2-CCCB-EC5C-0E49-49A163D2B32A}"/>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3E10988A-39FF-1060-7671-43927EEA4DB8}"/>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3D963F57-745C-D6C1-4293-6FEDB7576768}"/>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193F2E30-8820-BD41-CDD4-3BCBB42489FC}"/>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64C186AF-2A04-5BCD-D76C-612B57D53093}"/>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1C24C58C-677E-BC48-17B2-E58F54BD5517}"/>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C8D26281-ED6D-3218-6FB9-300EC813E39B}"/>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FFFFF"/>
          </a:solidFill>
          <a:ln/>
        </p:spPr>
        <p:txBody>
          <a:bodyPr/>
          <a:lstStyle/>
          <a:p>
            <a:endParaRPr lang="es-ES"/>
          </a:p>
        </p:txBody>
      </p:sp>
      <p:pic>
        <p:nvPicPr>
          <p:cNvPr id="3"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pic>
        <p:nvPicPr>
          <p:cNvPr id="4" name="Imagen 3">
            <a:extLst>
              <a:ext uri="{FF2B5EF4-FFF2-40B4-BE49-F238E27FC236}">
                <a16:creationId xmlns:a16="http://schemas.microsoft.com/office/drawing/2014/main" id="{185B45D7-498F-0C24-0AA7-A3E151C27F1B}"/>
              </a:ext>
            </a:extLst>
          </p:cNvPr>
          <p:cNvPicPr>
            <a:picLocks/>
          </p:cNvPicPr>
          <p:nvPr userDrawn="1"/>
        </p:nvPicPr>
        <p:blipFill>
          <a:blip r:embed="rId4"/>
          <a:stretch>
            <a:fillRect/>
          </a:stretch>
        </p:blipFill>
        <p:spPr>
          <a:xfrm>
            <a:off x="-1" y="0"/>
            <a:ext cx="9143999" cy="51435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543550" y="0"/>
            <a:ext cx="3600450" cy="5143500"/>
          </a:xfrm>
          <a:prstGeom prst="rect">
            <a:avLst/>
          </a:prstGeom>
        </p:spPr>
      </p:pic>
      <p:sp>
        <p:nvSpPr>
          <p:cNvPr id="3" name="Text 0"/>
          <p:cNvSpPr/>
          <p:nvPr/>
        </p:nvSpPr>
        <p:spPr>
          <a:xfrm>
            <a:off x="496119" y="1795611"/>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91C53"/>
                </a:solidFill>
                <a:latin typeface="Instrument Sans SemiBold" pitchFamily="34" charset="0"/>
                <a:ea typeface="Instrument Sans SemiBold" pitchFamily="34" charset="-122"/>
                <a:cs typeface="Instrument Sans SemiBold" pitchFamily="34" charset="-120"/>
              </a:rPr>
              <a:t>El Titanic: ¿Quién sobrevivió y por qué?</a:t>
            </a:r>
            <a:endParaRPr lang="en-US" sz="2750" dirty="0"/>
          </a:p>
        </p:txBody>
      </p:sp>
      <p:sp>
        <p:nvSpPr>
          <p:cNvPr id="4" name="Text 1"/>
          <p:cNvSpPr/>
          <p:nvPr/>
        </p:nvSpPr>
        <p:spPr>
          <a:xfrm>
            <a:off x="496119" y="2894186"/>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Un análisis de los datos del naufragio más famoso de la historia para descubrir qué factores marcaron la diferencia entre la vida y la muerte.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624408"/>
            <a:ext cx="5620569" cy="442987"/>
          </a:xfrm>
          <a:prstGeom prst="rect">
            <a:avLst/>
          </a:prstGeom>
          <a:noFill/>
          <a:ln/>
        </p:spPr>
        <p:txBody>
          <a:bodyPr wrap="none" lIns="0" tIns="0" rIns="0" bIns="0" rtlCol="0" anchor="t"/>
          <a:lstStyle/>
          <a:p>
            <a:pPr marL="0" indent="0" algn="l">
              <a:lnSpc>
                <a:spcPct val="104000"/>
              </a:lnSpc>
              <a:buNone/>
            </a:pPr>
            <a:r>
              <a:rPr lang="en-US" sz="2750" dirty="0">
                <a:solidFill>
                  <a:srgbClr val="091C53"/>
                </a:solidFill>
                <a:latin typeface="Instrument Sans SemiBold" pitchFamily="34" charset="0"/>
                <a:ea typeface="Instrument Sans SemiBold" pitchFamily="34" charset="-122"/>
                <a:cs typeface="Instrument Sans SemiBold" pitchFamily="34" charset="-120"/>
              </a:rPr>
              <a:t>Una catástrofe sin precedentes</a:t>
            </a:r>
            <a:endParaRPr lang="en-US" sz="2750" dirty="0"/>
          </a:p>
        </p:txBody>
      </p:sp>
      <p:sp>
        <p:nvSpPr>
          <p:cNvPr id="3" name="Text 1"/>
          <p:cNvSpPr/>
          <p:nvPr/>
        </p:nvSpPr>
        <p:spPr>
          <a:xfrm>
            <a:off x="496119" y="1279996"/>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El hundimiento del Titanic en abril de 1912 dejó una tasa de mortalidad del </a:t>
            </a:r>
            <a:r>
              <a:rPr lang="en-US" sz="1100" b="1" dirty="0">
                <a:solidFill>
                  <a:srgbClr val="1E3063"/>
                </a:solidFill>
                <a:latin typeface="Instrument Sans Medium" pitchFamily="34" charset="0"/>
                <a:ea typeface="Instrument Sans Medium" pitchFamily="34" charset="-122"/>
                <a:cs typeface="Instrument Sans Medium" pitchFamily="34" charset="-120"/>
              </a:rPr>
              <a:t>61,6%</a:t>
            </a:r>
            <a:r>
              <a:rPr lang="en-US" sz="1100" dirty="0">
                <a:solidFill>
                  <a:srgbClr val="1E3063"/>
                </a:solidFill>
                <a:latin typeface="Instrument Sans Medium" pitchFamily="34" charset="0"/>
                <a:ea typeface="Instrument Sans Medium" pitchFamily="34" charset="-122"/>
                <a:cs typeface="Instrument Sans Medium" pitchFamily="34" charset="-120"/>
              </a:rPr>
              <a:t>. Para entender la magnitud de esta cifra, basta compararlo con otros grandes desastres de la historia.</a:t>
            </a:r>
            <a:endParaRPr lang="en-US" sz="1100" dirty="0"/>
          </a:p>
        </p:txBody>
      </p:sp>
      <p:sp>
        <p:nvSpPr>
          <p:cNvPr id="4" name="Shape 2"/>
          <p:cNvSpPr/>
          <p:nvPr/>
        </p:nvSpPr>
        <p:spPr>
          <a:xfrm>
            <a:off x="496119" y="1893094"/>
            <a:ext cx="4004965" cy="1128713"/>
          </a:xfrm>
          <a:prstGeom prst="roundRect">
            <a:avLst>
              <a:gd name="adj" fmla="val 11304"/>
            </a:avLst>
          </a:prstGeom>
          <a:solidFill>
            <a:srgbClr val="CEE6FD"/>
          </a:solidFill>
          <a:ln/>
        </p:spPr>
        <p:txBody>
          <a:bodyPr/>
          <a:lstStyle/>
          <a:p>
            <a:endParaRPr lang="es-ES"/>
          </a:p>
        </p:txBody>
      </p:sp>
      <p:sp>
        <p:nvSpPr>
          <p:cNvPr id="5" name="Text 3"/>
          <p:cNvSpPr/>
          <p:nvPr/>
        </p:nvSpPr>
        <p:spPr>
          <a:xfrm>
            <a:off x="637877" y="2034853"/>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Titanic (1912)</a:t>
            </a:r>
            <a:endParaRPr lang="en-US" sz="1350" dirty="0"/>
          </a:p>
        </p:txBody>
      </p:sp>
      <p:sp>
        <p:nvSpPr>
          <p:cNvPr id="6" name="Text 4"/>
          <p:cNvSpPr/>
          <p:nvPr/>
        </p:nvSpPr>
        <p:spPr>
          <a:xfrm>
            <a:off x="637877" y="2341364"/>
            <a:ext cx="3721447" cy="538683"/>
          </a:xfrm>
          <a:prstGeom prst="rect">
            <a:avLst/>
          </a:prstGeom>
          <a:noFill/>
          <a:ln/>
        </p:spPr>
        <p:txBody>
          <a:bodyPr wrap="square" lIns="0" tIns="0" rIns="0" bIns="0" rtlCol="0" anchor="t"/>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Tasa de mortalidad: </a:t>
            </a:r>
            <a:r>
              <a:rPr lang="en-US" sz="1100" b="1" dirty="0">
                <a:solidFill>
                  <a:srgbClr val="1E3063"/>
                </a:solidFill>
                <a:latin typeface="Instrument Sans Medium" pitchFamily="34" charset="0"/>
                <a:ea typeface="Instrument Sans Medium" pitchFamily="34" charset="-122"/>
                <a:cs typeface="Instrument Sans Medium" pitchFamily="34" charset="-120"/>
              </a:rPr>
              <a:t>61,6%</a:t>
            </a:r>
            <a:endParaRPr lang="en-US" sz="1100" dirty="0"/>
          </a:p>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1.496 fallecidos de 2.430 personas a bordo</a:t>
            </a:r>
            <a:endParaRPr lang="en-US" sz="1100" dirty="0"/>
          </a:p>
        </p:txBody>
      </p:sp>
      <p:sp>
        <p:nvSpPr>
          <p:cNvPr id="7" name="Shape 5"/>
          <p:cNvSpPr/>
          <p:nvPr/>
        </p:nvSpPr>
        <p:spPr>
          <a:xfrm>
            <a:off x="4642842" y="1893094"/>
            <a:ext cx="4005039" cy="1128713"/>
          </a:xfrm>
          <a:prstGeom prst="roundRect">
            <a:avLst>
              <a:gd name="adj" fmla="val 11304"/>
            </a:avLst>
          </a:prstGeom>
          <a:solidFill>
            <a:srgbClr val="CEE6FD"/>
          </a:solidFill>
          <a:ln/>
        </p:spPr>
        <p:txBody>
          <a:bodyPr/>
          <a:lstStyle/>
          <a:p>
            <a:endParaRPr lang="es-ES"/>
          </a:p>
        </p:txBody>
      </p:sp>
      <p:sp>
        <p:nvSpPr>
          <p:cNvPr id="8" name="Text 6"/>
          <p:cNvSpPr/>
          <p:nvPr/>
        </p:nvSpPr>
        <p:spPr>
          <a:xfrm>
            <a:off x="4784601" y="2034853"/>
            <a:ext cx="2623170"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Herald of Free Enterprise (1987)</a:t>
            </a:r>
            <a:endParaRPr lang="en-US" sz="1350" dirty="0"/>
          </a:p>
        </p:txBody>
      </p:sp>
      <p:sp>
        <p:nvSpPr>
          <p:cNvPr id="9" name="Text 7"/>
          <p:cNvSpPr/>
          <p:nvPr/>
        </p:nvSpPr>
        <p:spPr>
          <a:xfrm>
            <a:off x="4784601" y="2341364"/>
            <a:ext cx="3721522" cy="538683"/>
          </a:xfrm>
          <a:prstGeom prst="rect">
            <a:avLst/>
          </a:prstGeom>
          <a:noFill/>
          <a:ln/>
        </p:spPr>
        <p:txBody>
          <a:bodyPr wrap="square" lIns="0" tIns="0" rIns="0" bIns="0" rtlCol="0" anchor="t"/>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Tasa de mortalidad: </a:t>
            </a:r>
            <a:r>
              <a:rPr lang="en-US" sz="1100" b="1" dirty="0">
                <a:solidFill>
                  <a:srgbClr val="1E3063"/>
                </a:solidFill>
                <a:latin typeface="Instrument Sans Medium" pitchFamily="34" charset="0"/>
                <a:ea typeface="Instrument Sans Medium" pitchFamily="34" charset="-122"/>
                <a:cs typeface="Instrument Sans Medium" pitchFamily="34" charset="-120"/>
              </a:rPr>
              <a:t>38,4%</a:t>
            </a:r>
            <a:endParaRPr lang="en-US" sz="1100" dirty="0"/>
          </a:p>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193 fallecidos de 502 personas a bordo</a:t>
            </a:r>
            <a:endParaRPr lang="en-US" sz="1100" dirty="0"/>
          </a:p>
        </p:txBody>
      </p:sp>
      <p:sp>
        <p:nvSpPr>
          <p:cNvPr id="10" name="Shape 8"/>
          <p:cNvSpPr/>
          <p:nvPr/>
        </p:nvSpPr>
        <p:spPr>
          <a:xfrm>
            <a:off x="496119" y="3163565"/>
            <a:ext cx="4004965" cy="1355527"/>
          </a:xfrm>
          <a:prstGeom prst="roundRect">
            <a:avLst>
              <a:gd name="adj" fmla="val 9413"/>
            </a:avLst>
          </a:prstGeom>
          <a:solidFill>
            <a:srgbClr val="CEE6FD"/>
          </a:solidFill>
          <a:ln/>
        </p:spPr>
        <p:txBody>
          <a:bodyPr/>
          <a:lstStyle/>
          <a:p>
            <a:endParaRPr lang="es-ES"/>
          </a:p>
        </p:txBody>
      </p:sp>
      <p:sp>
        <p:nvSpPr>
          <p:cNvPr id="11" name="Text 9"/>
          <p:cNvSpPr/>
          <p:nvPr/>
        </p:nvSpPr>
        <p:spPr>
          <a:xfrm>
            <a:off x="637877" y="3305324"/>
            <a:ext cx="1954411"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Costa Concordia (2012)</a:t>
            </a:r>
            <a:endParaRPr lang="en-US" sz="1350" dirty="0"/>
          </a:p>
        </p:txBody>
      </p:sp>
      <p:sp>
        <p:nvSpPr>
          <p:cNvPr id="12" name="Text 10"/>
          <p:cNvSpPr/>
          <p:nvPr/>
        </p:nvSpPr>
        <p:spPr>
          <a:xfrm>
            <a:off x="637877" y="3611835"/>
            <a:ext cx="3721447" cy="538683"/>
          </a:xfrm>
          <a:prstGeom prst="rect">
            <a:avLst/>
          </a:prstGeom>
          <a:noFill/>
          <a:ln/>
        </p:spPr>
        <p:txBody>
          <a:bodyPr wrap="square" lIns="0" tIns="0" rIns="0" bIns="0" rtlCol="0" anchor="t"/>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Tasa de mortalidad: </a:t>
            </a:r>
            <a:r>
              <a:rPr lang="en-US" sz="1100" b="1" dirty="0">
                <a:solidFill>
                  <a:srgbClr val="1E3063"/>
                </a:solidFill>
                <a:latin typeface="Instrument Sans Medium" pitchFamily="34" charset="0"/>
                <a:ea typeface="Instrument Sans Medium" pitchFamily="34" charset="-122"/>
                <a:cs typeface="Instrument Sans Medium" pitchFamily="34" charset="-120"/>
              </a:rPr>
              <a:t>1,9%</a:t>
            </a:r>
            <a:endParaRPr lang="en-US" sz="1100" dirty="0"/>
          </a:p>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32 fallecidos de 4.229 personas a bordo</a:t>
            </a:r>
            <a:endParaRPr lang="en-US" sz="1100" dirty="0"/>
          </a:p>
        </p:txBody>
      </p:sp>
      <p:sp>
        <p:nvSpPr>
          <p:cNvPr id="13" name="Shape 11"/>
          <p:cNvSpPr/>
          <p:nvPr/>
        </p:nvSpPr>
        <p:spPr>
          <a:xfrm>
            <a:off x="4642842" y="3163565"/>
            <a:ext cx="4005039" cy="1355527"/>
          </a:xfrm>
          <a:prstGeom prst="roundRect">
            <a:avLst>
              <a:gd name="adj" fmla="val 9413"/>
            </a:avLst>
          </a:prstGeom>
          <a:solidFill>
            <a:srgbClr val="CEE6FD"/>
          </a:solidFill>
          <a:ln/>
        </p:spPr>
        <p:txBody>
          <a:bodyPr/>
          <a:lstStyle/>
          <a:p>
            <a:endParaRPr lang="es-ES"/>
          </a:p>
        </p:txBody>
      </p:sp>
      <p:sp>
        <p:nvSpPr>
          <p:cNvPr id="14" name="Text 12"/>
          <p:cNvSpPr/>
          <p:nvPr/>
        </p:nvSpPr>
        <p:spPr>
          <a:xfrm>
            <a:off x="4784601" y="3305324"/>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MV Doña Paz (1987)</a:t>
            </a:r>
            <a:endParaRPr lang="en-US" sz="1350" dirty="0"/>
          </a:p>
        </p:txBody>
      </p:sp>
      <p:sp>
        <p:nvSpPr>
          <p:cNvPr id="15" name="Text 13"/>
          <p:cNvSpPr/>
          <p:nvPr/>
        </p:nvSpPr>
        <p:spPr>
          <a:xfrm>
            <a:off x="4784601" y="3611835"/>
            <a:ext cx="3721522" cy="765497"/>
          </a:xfrm>
          <a:prstGeom prst="rect">
            <a:avLst/>
          </a:prstGeom>
          <a:noFill/>
          <a:ln/>
        </p:spPr>
        <p:txBody>
          <a:bodyPr wrap="square" lIns="0" tIns="0" rIns="0" bIns="0" rtlCol="0" anchor="t"/>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Tasa de mortalidad: </a:t>
            </a:r>
            <a:r>
              <a:rPr lang="en-US" sz="1100" b="1" dirty="0">
                <a:solidFill>
                  <a:srgbClr val="1E3063"/>
                </a:solidFill>
                <a:latin typeface="Instrument Sans Medium" pitchFamily="34" charset="0"/>
                <a:ea typeface="Instrument Sans Medium" pitchFamily="34" charset="-122"/>
                <a:cs typeface="Instrument Sans Medium" pitchFamily="34" charset="-120"/>
              </a:rPr>
              <a:t>~98%</a:t>
            </a:r>
            <a:endParaRPr lang="en-US" sz="1100" dirty="0"/>
          </a:p>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Más de 4.300 fallecidos — el peor desastre naval en tiempos de paz</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69652"/>
            <a:ext cx="5207794" cy="442987"/>
          </a:xfrm>
          <a:prstGeom prst="rect">
            <a:avLst/>
          </a:prstGeom>
          <a:noFill/>
          <a:ln/>
        </p:spPr>
        <p:txBody>
          <a:bodyPr wrap="none" lIns="0" tIns="0" rIns="0" bIns="0" rtlCol="0" anchor="t"/>
          <a:lstStyle/>
          <a:p>
            <a:pPr marL="0" indent="0" algn="l">
              <a:lnSpc>
                <a:spcPct val="104000"/>
              </a:lnSpc>
              <a:buNone/>
            </a:pPr>
            <a:r>
              <a:rPr lang="en-US" sz="2750" dirty="0">
                <a:solidFill>
                  <a:srgbClr val="091C53"/>
                </a:solidFill>
                <a:latin typeface="Instrument Sans SemiBold" pitchFamily="34" charset="0"/>
                <a:ea typeface="Instrument Sans SemiBold" pitchFamily="34" charset="-122"/>
                <a:cs typeface="Instrument Sans SemiBold" pitchFamily="34" charset="-120"/>
              </a:rPr>
              <a:t>¿«Mujeres y niños primero»?</a:t>
            </a:r>
            <a:endParaRPr lang="en-US" sz="2750" dirty="0"/>
          </a:p>
        </p:txBody>
      </p:sp>
      <p:sp>
        <p:nvSpPr>
          <p:cNvPr id="3" name="Text 1"/>
          <p:cNvSpPr/>
          <p:nvPr/>
        </p:nvSpPr>
        <p:spPr>
          <a:xfrm>
            <a:off x="496119" y="1396157"/>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La famosa orden del capitán no era solo protocolo: los datos confirman que el género y la edad fueron determinantes en las posibilidades de sobrevivir.</a:t>
            </a:r>
            <a:endParaRPr lang="en-US" sz="1100" dirty="0"/>
          </a:p>
        </p:txBody>
      </p:sp>
      <p:sp>
        <p:nvSpPr>
          <p:cNvPr id="4" name="Text 2"/>
          <p:cNvSpPr/>
          <p:nvPr/>
        </p:nvSpPr>
        <p:spPr>
          <a:xfrm>
            <a:off x="496119" y="2080096"/>
            <a:ext cx="2599134" cy="374303"/>
          </a:xfrm>
          <a:prstGeom prst="rect">
            <a:avLst/>
          </a:prstGeom>
          <a:noFill/>
          <a:ln/>
        </p:spPr>
        <p:txBody>
          <a:bodyPr wrap="none" lIns="0" tIns="0" rIns="0" bIns="0" rtlCol="0" anchor="t"/>
          <a:lstStyle/>
          <a:p>
            <a:pPr marL="0" indent="0" algn="ctr">
              <a:lnSpc>
                <a:spcPct val="83000"/>
              </a:lnSpc>
              <a:buNone/>
            </a:pPr>
            <a:r>
              <a:rPr lang="en-US" sz="2900" dirty="0">
                <a:solidFill>
                  <a:srgbClr val="1E3063"/>
                </a:solidFill>
                <a:latin typeface="Instrument Sans SemiBold" pitchFamily="34" charset="0"/>
                <a:ea typeface="Instrument Sans SemiBold" pitchFamily="34" charset="-122"/>
                <a:cs typeface="Instrument Sans SemiBold" pitchFamily="34" charset="-120"/>
              </a:rPr>
              <a:t>75,6%</a:t>
            </a:r>
            <a:endParaRPr lang="en-US" sz="2900" dirty="0"/>
          </a:p>
        </p:txBody>
      </p:sp>
      <p:sp>
        <p:nvSpPr>
          <p:cNvPr id="5" name="Text 3"/>
          <p:cNvSpPr/>
          <p:nvPr/>
        </p:nvSpPr>
        <p:spPr>
          <a:xfrm>
            <a:off x="909637" y="2631504"/>
            <a:ext cx="1772022" cy="221456"/>
          </a:xfrm>
          <a:prstGeom prst="rect">
            <a:avLst/>
          </a:prstGeom>
          <a:noFill/>
          <a:ln/>
        </p:spPr>
        <p:txBody>
          <a:bodyPr wrap="none" lIns="0" tIns="0" rIns="0" bIns="0" rtlCol="0" anchor="t"/>
          <a:lstStyle/>
          <a:p>
            <a:pPr marL="0" indent="0" algn="ctr">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Mujeres</a:t>
            </a:r>
            <a:endParaRPr lang="en-US" sz="1350" dirty="0"/>
          </a:p>
        </p:txBody>
      </p:sp>
      <p:sp>
        <p:nvSpPr>
          <p:cNvPr id="6" name="Text 4"/>
          <p:cNvSpPr/>
          <p:nvPr/>
        </p:nvSpPr>
        <p:spPr>
          <a:xfrm>
            <a:off x="496119" y="2938016"/>
            <a:ext cx="2599134"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Tasa de supervivencia femenina — la más alta de los tres grupos</a:t>
            </a:r>
            <a:endParaRPr lang="en-US" sz="1100" dirty="0"/>
          </a:p>
        </p:txBody>
      </p:sp>
      <p:sp>
        <p:nvSpPr>
          <p:cNvPr id="7" name="Text 5"/>
          <p:cNvSpPr/>
          <p:nvPr/>
        </p:nvSpPr>
        <p:spPr>
          <a:xfrm>
            <a:off x="3272433" y="2080096"/>
            <a:ext cx="2599134" cy="467841"/>
          </a:xfrm>
          <a:prstGeom prst="rect">
            <a:avLst/>
          </a:prstGeom>
          <a:noFill/>
          <a:ln/>
        </p:spPr>
        <p:txBody>
          <a:bodyPr wrap="none" lIns="0" tIns="0" rIns="0" bIns="0" rtlCol="0" anchor="t"/>
          <a:lstStyle/>
          <a:p>
            <a:pPr marL="0" indent="0" algn="ctr">
              <a:lnSpc>
                <a:spcPct val="83000"/>
              </a:lnSpc>
              <a:buNone/>
            </a:pPr>
            <a:r>
              <a:rPr lang="en-US" sz="3650" dirty="0">
                <a:solidFill>
                  <a:srgbClr val="1E3063"/>
                </a:solidFill>
                <a:latin typeface="Instrument Sans SemiBold" pitchFamily="34" charset="0"/>
                <a:ea typeface="Instrument Sans SemiBold" pitchFamily="34" charset="-122"/>
                <a:cs typeface="Instrument Sans SemiBold" pitchFamily="34" charset="-120"/>
              </a:rPr>
              <a:t>58%</a:t>
            </a:r>
            <a:endParaRPr lang="en-US" sz="3650" dirty="0"/>
          </a:p>
        </p:txBody>
      </p:sp>
      <p:sp>
        <p:nvSpPr>
          <p:cNvPr id="8" name="Text 6"/>
          <p:cNvSpPr/>
          <p:nvPr/>
        </p:nvSpPr>
        <p:spPr>
          <a:xfrm>
            <a:off x="3685952" y="2725043"/>
            <a:ext cx="1772022" cy="221456"/>
          </a:xfrm>
          <a:prstGeom prst="rect">
            <a:avLst/>
          </a:prstGeom>
          <a:noFill/>
          <a:ln/>
        </p:spPr>
        <p:txBody>
          <a:bodyPr wrap="none" lIns="0" tIns="0" rIns="0" bIns="0" rtlCol="0" anchor="t"/>
          <a:lstStyle/>
          <a:p>
            <a:pPr marL="0" indent="0" algn="ctr">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Niños</a:t>
            </a:r>
            <a:endParaRPr lang="en-US" sz="1350" dirty="0"/>
          </a:p>
        </p:txBody>
      </p:sp>
      <p:sp>
        <p:nvSpPr>
          <p:cNvPr id="9" name="Text 7"/>
          <p:cNvSpPr/>
          <p:nvPr/>
        </p:nvSpPr>
        <p:spPr>
          <a:xfrm>
            <a:off x="3272433" y="3031554"/>
            <a:ext cx="2599134"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Más de la mitad de los menores consiguieron salvarse</a:t>
            </a:r>
            <a:endParaRPr lang="en-US" sz="1100" dirty="0"/>
          </a:p>
        </p:txBody>
      </p:sp>
      <p:sp>
        <p:nvSpPr>
          <p:cNvPr id="10" name="Text 8"/>
          <p:cNvSpPr/>
          <p:nvPr/>
        </p:nvSpPr>
        <p:spPr>
          <a:xfrm>
            <a:off x="6048747" y="2080096"/>
            <a:ext cx="2599134" cy="374303"/>
          </a:xfrm>
          <a:prstGeom prst="rect">
            <a:avLst/>
          </a:prstGeom>
          <a:noFill/>
          <a:ln/>
        </p:spPr>
        <p:txBody>
          <a:bodyPr wrap="none" lIns="0" tIns="0" rIns="0" bIns="0" rtlCol="0" anchor="t"/>
          <a:lstStyle/>
          <a:p>
            <a:pPr marL="0" indent="0" algn="ctr">
              <a:lnSpc>
                <a:spcPct val="83000"/>
              </a:lnSpc>
              <a:buNone/>
            </a:pPr>
            <a:r>
              <a:rPr lang="en-US" sz="2900" dirty="0">
                <a:solidFill>
                  <a:srgbClr val="1E3063"/>
                </a:solidFill>
                <a:latin typeface="Instrument Sans SemiBold" pitchFamily="34" charset="0"/>
                <a:ea typeface="Instrument Sans SemiBold" pitchFamily="34" charset="-122"/>
                <a:cs typeface="Instrument Sans SemiBold" pitchFamily="34" charset="-120"/>
              </a:rPr>
              <a:t>16,4%</a:t>
            </a:r>
            <a:endParaRPr lang="en-US" sz="2900" dirty="0"/>
          </a:p>
        </p:txBody>
      </p:sp>
      <p:sp>
        <p:nvSpPr>
          <p:cNvPr id="11" name="Text 9"/>
          <p:cNvSpPr/>
          <p:nvPr/>
        </p:nvSpPr>
        <p:spPr>
          <a:xfrm>
            <a:off x="6462266" y="2631504"/>
            <a:ext cx="1772022" cy="221456"/>
          </a:xfrm>
          <a:prstGeom prst="rect">
            <a:avLst/>
          </a:prstGeom>
          <a:noFill/>
          <a:ln/>
        </p:spPr>
        <p:txBody>
          <a:bodyPr wrap="none" lIns="0" tIns="0" rIns="0" bIns="0" rtlCol="0" anchor="t"/>
          <a:lstStyle/>
          <a:p>
            <a:pPr marL="0" indent="0" algn="ctr">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Hombres</a:t>
            </a:r>
            <a:endParaRPr lang="en-US" sz="1350" dirty="0"/>
          </a:p>
        </p:txBody>
      </p:sp>
      <p:sp>
        <p:nvSpPr>
          <p:cNvPr id="12" name="Text 10"/>
          <p:cNvSpPr/>
          <p:nvPr/>
        </p:nvSpPr>
        <p:spPr>
          <a:xfrm>
            <a:off x="6048747" y="2938016"/>
            <a:ext cx="2599134" cy="453628"/>
          </a:xfrm>
          <a:prstGeom prst="rect">
            <a:avLst/>
          </a:prstGeom>
          <a:noFill/>
          <a:ln/>
        </p:spPr>
        <p:txBody>
          <a:bodyPr wrap="square" lIns="0" tIns="0" rIns="0" bIns="0" rtlCol="0" anchor="t">
            <a:normAutofit/>
          </a:bodyPr>
          <a:lstStyle/>
          <a:p>
            <a:pPr marL="0" indent="0" algn="ctr">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Solo 1 de cada 6 hombres sobrevivió al hundimiento</a:t>
            </a:r>
            <a:endParaRPr lang="en-US" sz="1100" dirty="0"/>
          </a:p>
        </p:txBody>
      </p:sp>
      <p:sp>
        <p:nvSpPr>
          <p:cNvPr id="13" name="Shape 11"/>
          <p:cNvSpPr/>
          <p:nvPr/>
        </p:nvSpPr>
        <p:spPr>
          <a:xfrm>
            <a:off x="496119" y="3644652"/>
            <a:ext cx="8151763" cy="829196"/>
          </a:xfrm>
          <a:prstGeom prst="roundRect">
            <a:avLst>
              <a:gd name="adj" fmla="val 15387"/>
            </a:avLst>
          </a:prstGeom>
          <a:solidFill>
            <a:srgbClr val="B6D6FC"/>
          </a:solidFill>
          <a:ln/>
        </p:spPr>
        <p:txBody>
          <a:bodyPr/>
          <a:lstStyle/>
          <a:p>
            <a:endParaRPr lang="es-ES"/>
          </a:p>
        </p:txBody>
      </p:sp>
      <p:pic>
        <p:nvPicPr>
          <p:cNvPr id="14" name="Image 0" descr="preencoded.png"/>
          <p:cNvPicPr>
            <a:picLocks noChangeAspect="1"/>
          </p:cNvPicPr>
          <p:nvPr/>
        </p:nvPicPr>
        <p:blipFill>
          <a:blip r:embed="rId3"/>
          <a:stretch>
            <a:fillRect/>
          </a:stretch>
        </p:blipFill>
        <p:spPr>
          <a:xfrm>
            <a:off x="637877" y="3859709"/>
            <a:ext cx="177180" cy="141759"/>
          </a:xfrm>
          <a:prstGeom prst="rect">
            <a:avLst/>
          </a:prstGeom>
        </p:spPr>
      </p:pic>
      <p:sp>
        <p:nvSpPr>
          <p:cNvPr id="15" name="Text 12"/>
          <p:cNvSpPr/>
          <p:nvPr/>
        </p:nvSpPr>
        <p:spPr>
          <a:xfrm>
            <a:off x="956816" y="3821832"/>
            <a:ext cx="7549307"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Instrument Sans Medium" pitchFamily="34" charset="0"/>
                <a:ea typeface="Instrument Sans Medium" pitchFamily="34" charset="-122"/>
                <a:cs typeface="Instrument Sans Medium" pitchFamily="34" charset="-120"/>
              </a:rPr>
              <a:t>La diferencia entre hombres y mujeres es de casi 60 puntos porcentuales — una de las brechas más llamativas en el análisis de estos datos.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599405"/>
            <a:ext cx="6560344" cy="442987"/>
          </a:xfrm>
          <a:prstGeom prst="rect">
            <a:avLst/>
          </a:prstGeom>
          <a:noFill/>
          <a:ln/>
        </p:spPr>
        <p:txBody>
          <a:bodyPr wrap="none" lIns="0" tIns="0" rIns="0" bIns="0" rtlCol="0" anchor="t"/>
          <a:lstStyle/>
          <a:p>
            <a:pPr marL="0" indent="0" algn="l">
              <a:lnSpc>
                <a:spcPct val="104000"/>
              </a:lnSpc>
              <a:buNone/>
            </a:pPr>
            <a:r>
              <a:rPr lang="en-US" sz="2750" dirty="0">
                <a:solidFill>
                  <a:srgbClr val="091C53"/>
                </a:solidFill>
                <a:latin typeface="Instrument Sans SemiBold" pitchFamily="34" charset="0"/>
                <a:ea typeface="Instrument Sans SemiBold" pitchFamily="34" charset="-122"/>
                <a:cs typeface="Instrument Sans SemiBold" pitchFamily="34" charset="-120"/>
              </a:rPr>
              <a:t>La clase social también salvaba vidas</a:t>
            </a:r>
            <a:endParaRPr lang="en-US" sz="2750" dirty="0"/>
          </a:p>
        </p:txBody>
      </p:sp>
      <p:pic>
        <p:nvPicPr>
          <p:cNvPr id="3" name="Image 0" descr="preencoded.png"/>
          <p:cNvPicPr>
            <a:picLocks noChangeAspect="1"/>
          </p:cNvPicPr>
          <p:nvPr/>
        </p:nvPicPr>
        <p:blipFill>
          <a:blip r:embed="rId3"/>
          <a:stretch>
            <a:fillRect/>
          </a:stretch>
        </p:blipFill>
        <p:spPr>
          <a:xfrm>
            <a:off x="496119" y="1414463"/>
            <a:ext cx="4327773" cy="2970163"/>
          </a:xfrm>
          <a:prstGeom prst="rect">
            <a:avLst/>
          </a:prstGeom>
        </p:spPr>
      </p:pic>
      <p:sp>
        <p:nvSpPr>
          <p:cNvPr id="4" name="Text 1"/>
          <p:cNvSpPr/>
          <p:nvPr/>
        </p:nvSpPr>
        <p:spPr>
          <a:xfrm>
            <a:off x="5174531" y="1396752"/>
            <a:ext cx="2229222" cy="221456"/>
          </a:xfrm>
          <a:prstGeom prst="rect">
            <a:avLst/>
          </a:prstGeom>
          <a:noFill/>
          <a:ln/>
        </p:spPr>
        <p:txBody>
          <a:bodyPr wrap="none" lIns="0" tIns="0" rIns="0" bIns="0" rtlCol="0" anchor="t"/>
          <a:lstStyle/>
          <a:p>
            <a:pPr marL="0" indent="0" algn="l">
              <a:lnSpc>
                <a:spcPct val="104000"/>
              </a:lnSpc>
              <a:buNone/>
            </a:pPr>
            <a:r>
              <a:rPr lang="en-US" sz="1350" dirty="0">
                <a:solidFill>
                  <a:srgbClr val="091C53"/>
                </a:solidFill>
                <a:latin typeface="Instrument Sans SemiBold" pitchFamily="34" charset="0"/>
                <a:ea typeface="Instrument Sans SemiBold" pitchFamily="34" charset="-122"/>
                <a:cs typeface="Instrument Sans SemiBold" pitchFamily="34" charset="-120"/>
              </a:rPr>
              <a:t>El billete importaba</a:t>
            </a:r>
            <a:endParaRPr lang="en-US" sz="1350" dirty="0"/>
          </a:p>
        </p:txBody>
      </p:sp>
      <p:sp>
        <p:nvSpPr>
          <p:cNvPr id="5" name="Text 2"/>
          <p:cNvSpPr/>
          <p:nvPr/>
        </p:nvSpPr>
        <p:spPr>
          <a:xfrm>
            <a:off x="5174531" y="1759967"/>
            <a:ext cx="3478039" cy="194205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Los pasajeros de primera clase tenían una probabilidad de supervivencia </a:t>
            </a:r>
            <a:r>
              <a:rPr lang="en-US" sz="1100" b="1" dirty="0">
                <a:solidFill>
                  <a:srgbClr val="1E3063"/>
                </a:solidFill>
                <a:latin typeface="Instrument Sans Medium" pitchFamily="34" charset="0"/>
                <a:ea typeface="Instrument Sans Medium" pitchFamily="34" charset="-122"/>
                <a:cs typeface="Instrument Sans Medium" pitchFamily="34" charset="-120"/>
              </a:rPr>
              <a:t>2,6 veces mayor</a:t>
            </a:r>
            <a:r>
              <a:rPr lang="en-US" sz="1100" dirty="0">
                <a:solidFill>
                  <a:srgbClr val="1E3063"/>
                </a:solidFill>
                <a:latin typeface="Instrument Sans Medium" pitchFamily="34" charset="0"/>
                <a:ea typeface="Instrument Sans Medium" pitchFamily="34" charset="-122"/>
                <a:cs typeface="Instrument Sans Medium" pitchFamily="34" charset="-120"/>
              </a:rPr>
              <a:t> que los de tercera. Los camarotes de primera se encontraban en cubiertas superiores, con acceso más directo a los botes salvavidas.</a:t>
            </a:r>
            <a:endParaRPr lang="en-US" sz="1100" dirty="0"/>
          </a:p>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Los viajeros de tercera clase, en cambio, estaban en los niveles inferiores del barco — y muchos no conocían siquiera la disposición del buque.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09975" y="253475"/>
            <a:ext cx="7724050" cy="221456"/>
          </a:xfrm>
          <a:prstGeom prst="rect">
            <a:avLst/>
          </a:prstGeom>
          <a:noFill/>
          <a:ln/>
        </p:spPr>
        <p:txBody>
          <a:bodyPr wrap="none" lIns="0" tIns="0" rIns="0" bIns="0" rtlCol="0" anchor="t"/>
          <a:lstStyle/>
          <a:p>
            <a:pPr marL="0" indent="0" algn="l">
              <a:lnSpc>
                <a:spcPct val="104000"/>
              </a:lnSpc>
              <a:buNone/>
            </a:pPr>
            <a:r>
              <a:rPr lang="en-US" sz="2700" dirty="0">
                <a:solidFill>
                  <a:srgbClr val="091C53"/>
                </a:solidFill>
                <a:latin typeface="Instrument Sans SemiBold" pitchFamily="34" charset="0"/>
                <a:ea typeface="Instrument Sans SemiBold" pitchFamily="34" charset="-122"/>
                <a:cs typeface="Instrument Sans SemiBold" pitchFamily="34" charset="-120"/>
              </a:rPr>
              <a:t>¿Por qué sobrevivieron más mujeres que niños?</a:t>
            </a:r>
            <a:endParaRPr lang="en-US" sz="2700" dirty="0"/>
          </a:p>
        </p:txBody>
      </p:sp>
      <p:sp>
        <p:nvSpPr>
          <p:cNvPr id="3" name="Text 1"/>
          <p:cNvSpPr/>
          <p:nvPr/>
        </p:nvSpPr>
        <p:spPr>
          <a:xfrm>
            <a:off x="709975" y="992886"/>
            <a:ext cx="7724050" cy="456943"/>
          </a:xfrm>
          <a:prstGeom prst="rect">
            <a:avLst/>
          </a:prstGeom>
          <a:noFill/>
          <a:ln/>
        </p:spPr>
        <p:txBody>
          <a:bodyPr wrap="none" lIns="0" tIns="0" rIns="0" bIns="0" rtlCol="0" anchor="t"/>
          <a:lstStyle/>
          <a:p>
            <a:pPr marL="0" indent="0" algn="l">
              <a:lnSpc>
                <a:spcPct val="100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La clave está en </a:t>
            </a:r>
            <a:r>
              <a:rPr lang="en-US" sz="1100" b="1" dirty="0">
                <a:solidFill>
                  <a:srgbClr val="1E3063"/>
                </a:solidFill>
                <a:latin typeface="Instrument Sans Medium" pitchFamily="34" charset="0"/>
                <a:ea typeface="Instrument Sans Medium" pitchFamily="34" charset="-122"/>
                <a:cs typeface="Instrument Sans Medium" pitchFamily="34" charset="-120"/>
              </a:rPr>
              <a:t>dónde viajaban</a:t>
            </a:r>
            <a:r>
              <a:rPr lang="en-US" sz="1100" dirty="0">
                <a:solidFill>
                  <a:srgbClr val="1E3063"/>
                </a:solidFill>
                <a:latin typeface="Instrument Sans Medium" pitchFamily="34" charset="0"/>
                <a:ea typeface="Instrument Sans Medium" pitchFamily="34" charset="-122"/>
                <a:cs typeface="Instrument Sans Medium" pitchFamily="34" charset="-120"/>
              </a:rPr>
              <a:t>. La distribución por clase explica gran parte de la </a:t>
            </a:r>
            <a:r>
              <a:rPr lang="en-US" sz="1100" dirty="0" err="1">
                <a:solidFill>
                  <a:srgbClr val="1E3063"/>
                </a:solidFill>
                <a:latin typeface="Instrument Sans Medium" pitchFamily="34" charset="0"/>
                <a:ea typeface="Instrument Sans Medium" pitchFamily="34" charset="-122"/>
                <a:cs typeface="Instrument Sans Medium" pitchFamily="34" charset="-120"/>
              </a:rPr>
              <a:t>diferencia</a:t>
            </a:r>
            <a:r>
              <a:rPr lang="en-US" sz="1100" dirty="0">
                <a:solidFill>
                  <a:srgbClr val="1E3063"/>
                </a:solidFill>
                <a:latin typeface="Instrument Sans Medium" pitchFamily="34" charset="0"/>
                <a:ea typeface="Instrument Sans Medium" pitchFamily="34" charset="-122"/>
                <a:cs typeface="Instrument Sans Medium" pitchFamily="34" charset="-120"/>
              </a:rPr>
              <a:t> </a:t>
            </a:r>
            <a:r>
              <a:rPr lang="en-US" sz="1100" dirty="0" err="1">
                <a:solidFill>
                  <a:srgbClr val="1E3063"/>
                </a:solidFill>
                <a:latin typeface="Instrument Sans Medium" pitchFamily="34" charset="0"/>
                <a:ea typeface="Instrument Sans Medium" pitchFamily="34" charset="-122"/>
                <a:cs typeface="Instrument Sans Medium" pitchFamily="34" charset="-120"/>
              </a:rPr>
              <a:t>en</a:t>
            </a:r>
            <a:r>
              <a:rPr lang="en-US" sz="1100" dirty="0">
                <a:solidFill>
                  <a:srgbClr val="1E3063"/>
                </a:solidFill>
                <a:latin typeface="Instrument Sans Medium" pitchFamily="34" charset="0"/>
                <a:ea typeface="Instrument Sans Medium" pitchFamily="34" charset="-122"/>
                <a:cs typeface="Instrument Sans Medium" pitchFamily="34" charset="-120"/>
              </a:rPr>
              <a:t> las </a:t>
            </a:r>
            <a:r>
              <a:rPr lang="en-US" sz="1100" dirty="0" err="1">
                <a:solidFill>
                  <a:srgbClr val="1E3063"/>
                </a:solidFill>
                <a:latin typeface="Instrument Sans Medium" pitchFamily="34" charset="0"/>
                <a:ea typeface="Instrument Sans Medium" pitchFamily="34" charset="-122"/>
                <a:cs typeface="Instrument Sans Medium" pitchFamily="34" charset="-120"/>
              </a:rPr>
              <a:t>tasas</a:t>
            </a:r>
            <a:r>
              <a:rPr lang="en-US" sz="1100" dirty="0">
                <a:solidFill>
                  <a:srgbClr val="1E3063"/>
                </a:solidFill>
                <a:latin typeface="Instrument Sans Medium" pitchFamily="34" charset="0"/>
                <a:ea typeface="Instrument Sans Medium" pitchFamily="34" charset="-122"/>
                <a:cs typeface="Instrument Sans Medium" pitchFamily="34" charset="-120"/>
              </a:rPr>
              <a:t> de </a:t>
            </a:r>
          </a:p>
          <a:p>
            <a:pPr marL="0" indent="0" algn="l">
              <a:lnSpc>
                <a:spcPct val="100000"/>
              </a:lnSpc>
              <a:buNone/>
            </a:pPr>
            <a:r>
              <a:rPr lang="en-US" sz="1100" dirty="0" err="1">
                <a:solidFill>
                  <a:srgbClr val="1E3063"/>
                </a:solidFill>
                <a:latin typeface="Instrument Sans Medium" pitchFamily="34" charset="0"/>
                <a:ea typeface="Instrument Sans Medium" pitchFamily="34" charset="-122"/>
                <a:cs typeface="Instrument Sans Medium" pitchFamily="34" charset="-120"/>
              </a:rPr>
              <a:t>supervivencia</a:t>
            </a:r>
            <a:r>
              <a:rPr lang="en-US" sz="1100" dirty="0">
                <a:solidFill>
                  <a:srgbClr val="1E3063"/>
                </a:solidFill>
                <a:latin typeface="Instrument Sans Medium" pitchFamily="34" charset="0"/>
                <a:ea typeface="Instrument Sans Medium" pitchFamily="34" charset="-122"/>
                <a:cs typeface="Instrument Sans Medium" pitchFamily="34" charset="-120"/>
              </a:rPr>
              <a:t> de mujeres y niños.</a:t>
            </a:r>
            <a:endParaRPr lang="en-US" sz="1100" dirty="0"/>
          </a:p>
        </p:txBody>
      </p:sp>
      <p:pic>
        <p:nvPicPr>
          <p:cNvPr id="4" name="Image 0" descr="preencoded.png"/>
          <p:cNvPicPr>
            <a:picLocks noChangeAspect="1"/>
          </p:cNvPicPr>
          <p:nvPr/>
        </p:nvPicPr>
        <p:blipFill>
          <a:blip r:embed="rId3"/>
          <a:stretch>
            <a:fillRect/>
          </a:stretch>
        </p:blipFill>
        <p:spPr>
          <a:xfrm>
            <a:off x="2126531" y="1449829"/>
            <a:ext cx="4890939" cy="2738884"/>
          </a:xfrm>
          <a:prstGeom prst="rect">
            <a:avLst/>
          </a:prstGeom>
        </p:spPr>
      </p:pic>
      <p:sp>
        <p:nvSpPr>
          <p:cNvPr id="5" name="Text 2"/>
          <p:cNvSpPr/>
          <p:nvPr/>
        </p:nvSpPr>
        <p:spPr>
          <a:xfrm>
            <a:off x="2126531" y="3961954"/>
            <a:ext cx="5348139" cy="85055"/>
          </a:xfrm>
          <a:prstGeom prst="rect">
            <a:avLst/>
          </a:prstGeom>
          <a:noFill/>
          <a:ln/>
        </p:spPr>
        <p:txBody>
          <a:bodyPr wrap="none" lIns="0" tIns="0" rIns="0" bIns="0" rtlCol="0" anchor="t"/>
          <a:lstStyle/>
          <a:p>
            <a:pPr marL="0" indent="0" algn="l">
              <a:lnSpc>
                <a:spcPct val="100000"/>
              </a:lnSpc>
              <a:buNone/>
            </a:pPr>
            <a:endParaRPr lang="en-US" sz="550" dirty="0"/>
          </a:p>
        </p:txBody>
      </p:sp>
      <p:grpSp>
        <p:nvGrpSpPr>
          <p:cNvPr id="9" name="Grupo 8">
            <a:extLst>
              <a:ext uri="{FF2B5EF4-FFF2-40B4-BE49-F238E27FC236}">
                <a16:creationId xmlns:a16="http://schemas.microsoft.com/office/drawing/2014/main" id="{1C8E32B4-0B2E-24E5-E720-EAAF073919FB}"/>
              </a:ext>
            </a:extLst>
          </p:cNvPr>
          <p:cNvGrpSpPr/>
          <p:nvPr/>
        </p:nvGrpSpPr>
        <p:grpSpPr>
          <a:xfrm>
            <a:off x="709976" y="4188713"/>
            <a:ext cx="7724050" cy="558836"/>
            <a:chOff x="2126531" y="4086820"/>
            <a:chExt cx="4890939" cy="290513"/>
          </a:xfrm>
        </p:grpSpPr>
        <p:sp>
          <p:nvSpPr>
            <p:cNvPr id="6" name="Shape 3"/>
            <p:cNvSpPr/>
            <p:nvPr/>
          </p:nvSpPr>
          <p:spPr>
            <a:xfrm>
              <a:off x="2126531" y="4086820"/>
              <a:ext cx="4890939" cy="290513"/>
            </a:xfrm>
            <a:prstGeom prst="roundRect">
              <a:avLst>
                <a:gd name="adj" fmla="val 21960"/>
              </a:avLst>
            </a:prstGeom>
            <a:solidFill>
              <a:srgbClr val="FCF2B5"/>
            </a:solidFill>
            <a:ln/>
          </p:spPr>
          <p:txBody>
            <a:bodyPr/>
            <a:lstStyle/>
            <a:p>
              <a:endParaRPr lang="es-ES"/>
            </a:p>
          </p:txBody>
        </p:sp>
        <p:pic>
          <p:nvPicPr>
            <p:cNvPr id="7" name="Image 1" descr="preencoded.png"/>
            <p:cNvPicPr>
              <a:picLocks noChangeAspect="1"/>
            </p:cNvPicPr>
            <p:nvPr/>
          </p:nvPicPr>
          <p:blipFill>
            <a:blip r:embed="rId4"/>
            <a:stretch>
              <a:fillRect/>
            </a:stretch>
          </p:blipFill>
          <p:spPr>
            <a:xfrm>
              <a:off x="2197373" y="4139952"/>
              <a:ext cx="159395" cy="127515"/>
            </a:xfrm>
            <a:prstGeom prst="rect">
              <a:avLst/>
            </a:prstGeom>
          </p:spPr>
        </p:pic>
        <p:sp>
          <p:nvSpPr>
            <p:cNvPr id="8" name="Text 4"/>
            <p:cNvSpPr/>
            <p:nvPr/>
          </p:nvSpPr>
          <p:spPr>
            <a:xfrm>
              <a:off x="2356768" y="4139952"/>
              <a:ext cx="4589859" cy="170111"/>
            </a:xfrm>
            <a:prstGeom prst="rect">
              <a:avLst/>
            </a:prstGeom>
            <a:noFill/>
            <a:ln/>
          </p:spPr>
          <p:txBody>
            <a:bodyPr wrap="square" lIns="0" tIns="0" rIns="0" bIns="0" rtlCol="0" anchor="t">
              <a:noAutofit/>
            </a:bodyPr>
            <a:lstStyle/>
            <a:p>
              <a:pPr marL="0" indent="0" algn="l">
                <a:lnSpc>
                  <a:spcPct val="100000"/>
                </a:lnSpc>
                <a:buNone/>
              </a:pPr>
              <a:r>
                <a:rPr lang="en-US" sz="1000" dirty="0">
                  <a:solidFill>
                    <a:srgbClr val="000000"/>
                  </a:solidFill>
                  <a:latin typeface="Instrument Sans Medium" pitchFamily="34" charset="0"/>
                  <a:ea typeface="Instrument Sans Medium" pitchFamily="34" charset="-122"/>
                  <a:cs typeface="Instrument Sans Medium" pitchFamily="34" charset="-120"/>
                </a:rPr>
                <a:t>Casi el </a:t>
              </a:r>
              <a:r>
                <a:rPr lang="en-US" sz="1000" b="1" dirty="0">
                  <a:solidFill>
                    <a:srgbClr val="000000"/>
                  </a:solidFill>
                  <a:latin typeface="Instrument Sans Medium" pitchFamily="34" charset="0"/>
                  <a:ea typeface="Instrument Sans Medium" pitchFamily="34" charset="-122"/>
                  <a:cs typeface="Instrument Sans Medium" pitchFamily="34" charset="-120"/>
                </a:rPr>
                <a:t>70% de los niños</a:t>
              </a:r>
              <a:r>
                <a:rPr lang="en-US" sz="1000" dirty="0">
                  <a:solidFill>
                    <a:srgbClr val="000000"/>
                  </a:solidFill>
                  <a:latin typeface="Instrument Sans Medium" pitchFamily="34" charset="0"/>
                  <a:ea typeface="Instrument Sans Medium" pitchFamily="34" charset="-122"/>
                  <a:cs typeface="Instrument Sans Medium" pitchFamily="34" charset="-120"/>
                </a:rPr>
                <a:t> viajaba en </a:t>
              </a:r>
              <a:r>
                <a:rPr lang="en-US" sz="1000" dirty="0" err="1">
                  <a:solidFill>
                    <a:srgbClr val="000000"/>
                  </a:solidFill>
                  <a:latin typeface="Instrument Sans Medium" pitchFamily="34" charset="0"/>
                  <a:ea typeface="Instrument Sans Medium" pitchFamily="34" charset="-122"/>
                  <a:cs typeface="Instrument Sans Medium" pitchFamily="34" charset="-120"/>
                </a:rPr>
                <a:t>tercera</a:t>
              </a:r>
              <a:r>
                <a:rPr lang="en-US" sz="1000" dirty="0">
                  <a:solidFill>
                    <a:srgbClr val="000000"/>
                  </a:solidFill>
                  <a:latin typeface="Instrument Sans Medium" pitchFamily="34" charset="0"/>
                  <a:ea typeface="Instrument Sans Medium" pitchFamily="34" charset="-122"/>
                  <a:cs typeface="Instrument Sans Medium" pitchFamily="34" charset="-120"/>
                </a:rPr>
                <a:t> </a:t>
              </a:r>
              <a:r>
                <a:rPr lang="en-US" sz="1000" dirty="0" err="1">
                  <a:solidFill>
                    <a:srgbClr val="000000"/>
                  </a:solidFill>
                  <a:latin typeface="Instrument Sans Medium" pitchFamily="34" charset="0"/>
                  <a:ea typeface="Instrument Sans Medium" pitchFamily="34" charset="-122"/>
                  <a:cs typeface="Instrument Sans Medium" pitchFamily="34" charset="-120"/>
                </a:rPr>
                <a:t>clase</a:t>
              </a:r>
              <a:r>
                <a:rPr lang="en-US" sz="1000" dirty="0">
                  <a:solidFill>
                    <a:srgbClr val="000000"/>
                  </a:solidFill>
                  <a:latin typeface="Instrument Sans Medium" pitchFamily="34" charset="0"/>
                  <a:ea typeface="Instrument Sans Medium" pitchFamily="34" charset="-122"/>
                  <a:cs typeface="Instrument Sans Medium" pitchFamily="34" charset="-120"/>
                </a:rPr>
                <a:t>, frente al 42% de las mujeres. Esa diferencia de posición en el barco se traduce directamente en menores posibilidades de llegar a los botes salvavidas.</a:t>
              </a:r>
              <a:endParaRPr lang="en-US" sz="1000" dirty="0"/>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543550" y="-217714"/>
            <a:ext cx="3870614" cy="5529448"/>
          </a:xfrm>
          <a:prstGeom prst="rect">
            <a:avLst/>
          </a:prstGeom>
        </p:spPr>
      </p:pic>
      <p:sp>
        <p:nvSpPr>
          <p:cNvPr id="3" name="Text 0"/>
          <p:cNvSpPr/>
          <p:nvPr/>
        </p:nvSpPr>
        <p:spPr>
          <a:xfrm>
            <a:off x="496119" y="1568797"/>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091C53"/>
                </a:solidFill>
                <a:latin typeface="Instrument Sans SemiBold" pitchFamily="34" charset="0"/>
                <a:ea typeface="Instrument Sans SemiBold" pitchFamily="34" charset="-122"/>
                <a:cs typeface="Instrument Sans SemiBold" pitchFamily="34" charset="-120"/>
              </a:rPr>
              <a:t>¿Influyó el puerto de embarque?</a:t>
            </a:r>
            <a:endParaRPr lang="en-US" sz="2750" dirty="0"/>
          </a:p>
        </p:txBody>
      </p:sp>
      <p:sp>
        <p:nvSpPr>
          <p:cNvPr id="4" name="Text 1"/>
          <p:cNvSpPr/>
          <p:nvPr/>
        </p:nvSpPr>
        <p:spPr>
          <a:xfrm>
            <a:off x="496119" y="2667372"/>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A primera vista, embarcar en Southampton, Cherburgo o Queenstown parece haber influido en las probabilidades de sobrevivir. Pero la realidad es más sutil: lo que realmente importaba era el tipo de pasajero que subió a bordo en cada puerto.</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0678" y="215854"/>
            <a:ext cx="7422644" cy="407599"/>
          </a:xfrm>
          <a:prstGeom prst="rect">
            <a:avLst/>
          </a:prstGeom>
          <a:noFill/>
          <a:ln/>
        </p:spPr>
        <p:txBody>
          <a:bodyPr wrap="none" lIns="0" tIns="0" rIns="0" bIns="0" rtlCol="0" anchor="t"/>
          <a:lstStyle/>
          <a:p>
            <a:pPr marL="0" indent="0" algn="l">
              <a:lnSpc>
                <a:spcPct val="104000"/>
              </a:lnSpc>
              <a:buNone/>
            </a:pPr>
            <a:r>
              <a:rPr lang="en-US" sz="2700" dirty="0">
                <a:solidFill>
                  <a:srgbClr val="091C53"/>
                </a:solidFill>
                <a:latin typeface="Instrument Sans SemiBold" pitchFamily="34" charset="0"/>
                <a:ea typeface="Instrument Sans SemiBold" pitchFamily="34" charset="-122"/>
                <a:cs typeface="Instrument Sans SemiBold" pitchFamily="34" charset="-120"/>
              </a:rPr>
              <a:t>Puerto de embarque: supervivencia por clase</a:t>
            </a:r>
            <a:endParaRPr lang="en-US" sz="2700" dirty="0"/>
          </a:p>
        </p:txBody>
      </p:sp>
      <p:sp>
        <p:nvSpPr>
          <p:cNvPr id="3" name="Text 1"/>
          <p:cNvSpPr/>
          <p:nvPr/>
        </p:nvSpPr>
        <p:spPr>
          <a:xfrm>
            <a:off x="860678" y="846236"/>
            <a:ext cx="7422643" cy="170111"/>
          </a:xfrm>
          <a:prstGeom prst="rect">
            <a:avLst/>
          </a:prstGeom>
          <a:noFill/>
          <a:ln/>
        </p:spPr>
        <p:txBody>
          <a:bodyPr wrap="square" lIns="0" tIns="0" rIns="0" bIns="0" rtlCol="0" anchor="t">
            <a:noAutofit/>
          </a:bodyPr>
          <a:lstStyle/>
          <a:p>
            <a:pPr marL="0" indent="0" algn="l">
              <a:lnSpc>
                <a:spcPct val="100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Al desagregar los datos por clase social, el efecto del puerto desaparece. El patrón se repite: a mayor clase, mayor supervivencia — independientemente del origen.</a:t>
            </a:r>
            <a:endParaRPr lang="en-US" sz="1100" dirty="0"/>
          </a:p>
        </p:txBody>
      </p:sp>
      <p:pic>
        <p:nvPicPr>
          <p:cNvPr id="4" name="Image 0" descr="preencoded.png"/>
          <p:cNvPicPr>
            <a:picLocks noChangeAspect="1"/>
          </p:cNvPicPr>
          <p:nvPr/>
        </p:nvPicPr>
        <p:blipFill>
          <a:blip r:embed="rId3"/>
          <a:stretch>
            <a:fillRect/>
          </a:stretch>
        </p:blipFill>
        <p:spPr>
          <a:xfrm>
            <a:off x="1775539" y="1433512"/>
            <a:ext cx="5592919" cy="3131987"/>
          </a:xfrm>
          <a:prstGeom prst="rect">
            <a:avLst/>
          </a:prstGeom>
        </p:spPr>
      </p:pic>
      <p:sp>
        <p:nvSpPr>
          <p:cNvPr id="5" name="Text 2"/>
          <p:cNvSpPr/>
          <p:nvPr/>
        </p:nvSpPr>
        <p:spPr>
          <a:xfrm>
            <a:off x="860678" y="4650555"/>
            <a:ext cx="7716980" cy="170111"/>
          </a:xfrm>
          <a:prstGeom prst="rect">
            <a:avLst/>
          </a:prstGeom>
          <a:noFill/>
          <a:ln/>
        </p:spPr>
        <p:txBody>
          <a:bodyPr wrap="square" lIns="0" tIns="0" rIns="0" bIns="0" rtlCol="0" anchor="t">
            <a:noAutofit/>
          </a:bodyPr>
          <a:lstStyle/>
          <a:p>
            <a:pPr marL="0" indent="0" algn="l">
              <a:lnSpc>
                <a:spcPct val="100000"/>
              </a:lnSpc>
              <a:buNone/>
            </a:pPr>
            <a:r>
              <a:rPr lang="en-US" sz="900" dirty="0">
                <a:solidFill>
                  <a:srgbClr val="1E3063"/>
                </a:solidFill>
                <a:latin typeface="Instrument Sans Medium" pitchFamily="34" charset="0"/>
                <a:ea typeface="Instrument Sans Medium" pitchFamily="34" charset="-122"/>
                <a:cs typeface="Instrument Sans Medium" pitchFamily="34" charset="-120"/>
              </a:rPr>
              <a:t>Cherburgo embarcó la mayor proporción de pasajeros de primera clase (el perfil más rico del viaje), lo que explica sus mejores cifras globales. Southampton, con la mayor concentración de tercera clase, muestra el dato más bajo: apenas un 19% de supervivencia en ese segmento.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1020812"/>
            <a:ext cx="5735762" cy="442987"/>
          </a:xfrm>
          <a:prstGeom prst="rect">
            <a:avLst/>
          </a:prstGeom>
          <a:noFill/>
          <a:ln/>
        </p:spPr>
        <p:txBody>
          <a:bodyPr wrap="none" lIns="0" tIns="0" rIns="0" bIns="0" rtlCol="0" anchor="t"/>
          <a:lstStyle/>
          <a:p>
            <a:pPr marL="0" indent="0" algn="l">
              <a:lnSpc>
                <a:spcPct val="104000"/>
              </a:lnSpc>
              <a:buNone/>
            </a:pPr>
            <a:r>
              <a:rPr lang="en-US" sz="2750" dirty="0">
                <a:solidFill>
                  <a:srgbClr val="091C53"/>
                </a:solidFill>
                <a:latin typeface="Instrument Sans SemiBold" pitchFamily="34" charset="0"/>
                <a:ea typeface="Instrument Sans SemiBold" pitchFamily="34" charset="-122"/>
                <a:cs typeface="Instrument Sans SemiBold" pitchFamily="34" charset="-120"/>
              </a:rPr>
              <a:t>Un reflejo de la sociedad de 1912</a:t>
            </a:r>
            <a:endParaRPr lang="en-US" sz="2750" dirty="0"/>
          </a:p>
        </p:txBody>
      </p:sp>
      <p:sp>
        <p:nvSpPr>
          <p:cNvPr id="3" name="Text 1"/>
          <p:cNvSpPr/>
          <p:nvPr/>
        </p:nvSpPr>
        <p:spPr>
          <a:xfrm>
            <a:off x="496119" y="1747317"/>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Los datos del Titanic no son solo estadísticas: son un espejo de las </a:t>
            </a:r>
            <a:r>
              <a:rPr lang="en-US" sz="1100" b="1" dirty="0">
                <a:solidFill>
                  <a:srgbClr val="1E3063"/>
                </a:solidFill>
                <a:latin typeface="Instrument Sans Medium" pitchFamily="34" charset="0"/>
                <a:ea typeface="Instrument Sans Medium" pitchFamily="34" charset="-122"/>
                <a:cs typeface="Instrument Sans Medium" pitchFamily="34" charset="-120"/>
              </a:rPr>
              <a:t>desigualdades sociales</a:t>
            </a:r>
            <a:r>
              <a:rPr lang="en-US" sz="1100" dirty="0">
                <a:solidFill>
                  <a:srgbClr val="1E3063"/>
                </a:solidFill>
                <a:latin typeface="Instrument Sans Medium" pitchFamily="34" charset="0"/>
                <a:ea typeface="Instrument Sans Medium" pitchFamily="34" charset="-122"/>
                <a:cs typeface="Instrument Sans Medium" pitchFamily="34" charset="-120"/>
              </a:rPr>
              <a:t> de principios del siglo XX. La clase, el género y la riqueza no solo determinaban cómo viajabas — también determinaban si sobrevivías.</a:t>
            </a:r>
            <a:endParaRPr lang="en-US" sz="1100" dirty="0"/>
          </a:p>
        </p:txBody>
      </p:sp>
      <p:sp>
        <p:nvSpPr>
          <p:cNvPr id="4" name="Shape 2"/>
          <p:cNvSpPr/>
          <p:nvPr/>
        </p:nvSpPr>
        <p:spPr>
          <a:xfrm>
            <a:off x="496119" y="2360414"/>
            <a:ext cx="2622724" cy="1762199"/>
          </a:xfrm>
          <a:prstGeom prst="roundRect">
            <a:avLst>
              <a:gd name="adj" fmla="val 5189"/>
            </a:avLst>
          </a:prstGeom>
          <a:solidFill>
            <a:srgbClr val="FFFFFF"/>
          </a:solidFill>
          <a:ln w="19050">
            <a:solidFill>
              <a:srgbClr val="B4CCE3"/>
            </a:solidFill>
            <a:prstDash val="solid"/>
          </a:ln>
        </p:spPr>
        <p:txBody>
          <a:bodyPr/>
          <a:lstStyle/>
          <a:p>
            <a:endParaRPr lang="es-ES"/>
          </a:p>
        </p:txBody>
      </p:sp>
      <p:sp>
        <p:nvSpPr>
          <p:cNvPr id="5" name="Shape 3"/>
          <p:cNvSpPr/>
          <p:nvPr/>
        </p:nvSpPr>
        <p:spPr>
          <a:xfrm>
            <a:off x="477069" y="2360414"/>
            <a:ext cx="76200" cy="1762199"/>
          </a:xfrm>
          <a:prstGeom prst="roundRect">
            <a:avLst>
              <a:gd name="adj" fmla="val 167442"/>
            </a:avLst>
          </a:prstGeom>
          <a:solidFill>
            <a:srgbClr val="84C1FA"/>
          </a:solidFill>
          <a:ln/>
        </p:spPr>
        <p:txBody>
          <a:bodyPr/>
          <a:lstStyle/>
          <a:p>
            <a:endParaRPr lang="es-ES"/>
          </a:p>
        </p:txBody>
      </p:sp>
      <p:sp>
        <p:nvSpPr>
          <p:cNvPr id="6" name="Text 4"/>
          <p:cNvSpPr/>
          <p:nvPr/>
        </p:nvSpPr>
        <p:spPr>
          <a:xfrm>
            <a:off x="714077" y="2521223"/>
            <a:ext cx="1999580"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Desigualdad estructural</a:t>
            </a:r>
            <a:endParaRPr lang="en-US" sz="1350" dirty="0"/>
          </a:p>
        </p:txBody>
      </p:sp>
      <p:sp>
        <p:nvSpPr>
          <p:cNvPr id="7" name="Text 5"/>
          <p:cNvSpPr/>
          <p:nvPr/>
        </p:nvSpPr>
        <p:spPr>
          <a:xfrm>
            <a:off x="714077" y="2827734"/>
            <a:ext cx="2243956"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La arquitectura del barco y los protocolos de evacuación favorecían a quienes viajaban en clases superiores, con acceso más rápido a los botes.</a:t>
            </a:r>
            <a:endParaRPr lang="en-US" sz="1100" dirty="0"/>
          </a:p>
        </p:txBody>
      </p:sp>
      <p:sp>
        <p:nvSpPr>
          <p:cNvPr id="8" name="Shape 6"/>
          <p:cNvSpPr/>
          <p:nvPr/>
        </p:nvSpPr>
        <p:spPr>
          <a:xfrm>
            <a:off x="3260601" y="2360414"/>
            <a:ext cx="2622724" cy="1762199"/>
          </a:xfrm>
          <a:prstGeom prst="roundRect">
            <a:avLst>
              <a:gd name="adj" fmla="val 5189"/>
            </a:avLst>
          </a:prstGeom>
          <a:solidFill>
            <a:srgbClr val="FFFFFF"/>
          </a:solidFill>
          <a:ln w="19050">
            <a:solidFill>
              <a:srgbClr val="B4CCE3"/>
            </a:solidFill>
            <a:prstDash val="solid"/>
          </a:ln>
        </p:spPr>
        <p:txBody>
          <a:bodyPr/>
          <a:lstStyle/>
          <a:p>
            <a:endParaRPr lang="es-ES"/>
          </a:p>
        </p:txBody>
      </p:sp>
      <p:sp>
        <p:nvSpPr>
          <p:cNvPr id="9" name="Shape 7"/>
          <p:cNvSpPr/>
          <p:nvPr/>
        </p:nvSpPr>
        <p:spPr>
          <a:xfrm>
            <a:off x="3241551" y="2360414"/>
            <a:ext cx="76200" cy="1762199"/>
          </a:xfrm>
          <a:prstGeom prst="roundRect">
            <a:avLst>
              <a:gd name="adj" fmla="val 167442"/>
            </a:avLst>
          </a:prstGeom>
          <a:solidFill>
            <a:srgbClr val="84C1FA"/>
          </a:solidFill>
          <a:ln/>
        </p:spPr>
        <p:txBody>
          <a:bodyPr/>
          <a:lstStyle/>
          <a:p>
            <a:endParaRPr lang="es-ES"/>
          </a:p>
        </p:txBody>
      </p:sp>
      <p:sp>
        <p:nvSpPr>
          <p:cNvPr id="10" name="Text 8"/>
          <p:cNvSpPr/>
          <p:nvPr/>
        </p:nvSpPr>
        <p:spPr>
          <a:xfrm>
            <a:off x="3478560" y="2521223"/>
            <a:ext cx="2178472"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El coste de la tercera clase</a:t>
            </a:r>
            <a:endParaRPr lang="en-US" sz="1350" dirty="0"/>
          </a:p>
        </p:txBody>
      </p:sp>
      <p:sp>
        <p:nvSpPr>
          <p:cNvPr id="11" name="Text 9"/>
          <p:cNvSpPr/>
          <p:nvPr/>
        </p:nvSpPr>
        <p:spPr>
          <a:xfrm>
            <a:off x="3478560" y="2827734"/>
            <a:ext cx="2243956"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Niños y adultos en tercera clase pagaron el precio más alto: peor ubicación, menos información y menos prioridad en la evacuación.</a:t>
            </a:r>
            <a:endParaRPr lang="en-US" sz="1100" dirty="0"/>
          </a:p>
        </p:txBody>
      </p:sp>
      <p:sp>
        <p:nvSpPr>
          <p:cNvPr id="12" name="Shape 10"/>
          <p:cNvSpPr/>
          <p:nvPr/>
        </p:nvSpPr>
        <p:spPr>
          <a:xfrm>
            <a:off x="6025083" y="2360414"/>
            <a:ext cx="2622724" cy="1762199"/>
          </a:xfrm>
          <a:prstGeom prst="roundRect">
            <a:avLst>
              <a:gd name="adj" fmla="val 5189"/>
            </a:avLst>
          </a:prstGeom>
          <a:solidFill>
            <a:srgbClr val="FFFFFF"/>
          </a:solidFill>
          <a:ln w="19050">
            <a:solidFill>
              <a:srgbClr val="B4CCE3"/>
            </a:solidFill>
            <a:prstDash val="solid"/>
          </a:ln>
        </p:spPr>
        <p:txBody>
          <a:bodyPr/>
          <a:lstStyle/>
          <a:p>
            <a:endParaRPr lang="es-ES"/>
          </a:p>
        </p:txBody>
      </p:sp>
      <p:sp>
        <p:nvSpPr>
          <p:cNvPr id="13" name="Shape 11"/>
          <p:cNvSpPr/>
          <p:nvPr/>
        </p:nvSpPr>
        <p:spPr>
          <a:xfrm>
            <a:off x="6006033" y="2360414"/>
            <a:ext cx="76200" cy="1762199"/>
          </a:xfrm>
          <a:prstGeom prst="roundRect">
            <a:avLst>
              <a:gd name="adj" fmla="val 167442"/>
            </a:avLst>
          </a:prstGeom>
          <a:solidFill>
            <a:srgbClr val="84C1FA"/>
          </a:solidFill>
          <a:ln/>
        </p:spPr>
        <p:txBody>
          <a:bodyPr/>
          <a:lstStyle/>
          <a:p>
            <a:endParaRPr lang="es-ES"/>
          </a:p>
        </p:txBody>
      </p:sp>
      <p:sp>
        <p:nvSpPr>
          <p:cNvPr id="14" name="Text 12"/>
          <p:cNvSpPr/>
          <p:nvPr/>
        </p:nvSpPr>
        <p:spPr>
          <a:xfrm>
            <a:off x="6243042" y="2521223"/>
            <a:ext cx="2021160"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Una lección que perduró</a:t>
            </a:r>
            <a:endParaRPr lang="en-US" sz="1350" dirty="0"/>
          </a:p>
        </p:txBody>
      </p:sp>
      <p:sp>
        <p:nvSpPr>
          <p:cNvPr id="15" name="Text 13"/>
          <p:cNvSpPr/>
          <p:nvPr/>
        </p:nvSpPr>
        <p:spPr>
          <a:xfrm>
            <a:off x="6243042" y="2827734"/>
            <a:ext cx="2243956"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El naufragio cambió la normativa internacional de seguridad marítima para siempre, obligando a los barcos a llevar botes para todos los pasajeros.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713556"/>
            <a:ext cx="4001319" cy="442987"/>
          </a:xfrm>
          <a:prstGeom prst="rect">
            <a:avLst/>
          </a:prstGeom>
          <a:noFill/>
          <a:ln/>
        </p:spPr>
        <p:txBody>
          <a:bodyPr wrap="none" lIns="0" tIns="0" rIns="0" bIns="0" rtlCol="0" anchor="t"/>
          <a:lstStyle/>
          <a:p>
            <a:pPr marL="0" indent="0" algn="l">
              <a:lnSpc>
                <a:spcPct val="104000"/>
              </a:lnSpc>
              <a:buNone/>
            </a:pPr>
            <a:r>
              <a:rPr lang="en-US" sz="2750" dirty="0">
                <a:solidFill>
                  <a:srgbClr val="091C53"/>
                </a:solidFill>
                <a:latin typeface="Instrument Sans SemiBold" pitchFamily="34" charset="0"/>
                <a:ea typeface="Instrument Sans SemiBold" pitchFamily="34" charset="-122"/>
                <a:cs typeface="Instrument Sans SemiBold" pitchFamily="34" charset="-120"/>
              </a:rPr>
              <a:t>Resumen del análisis</a:t>
            </a:r>
            <a:endParaRPr lang="en-US" sz="2750" dirty="0"/>
          </a:p>
        </p:txBody>
      </p:sp>
      <p:sp>
        <p:nvSpPr>
          <p:cNvPr id="3" name="Text 1"/>
          <p:cNvSpPr/>
          <p:nvPr/>
        </p:nvSpPr>
        <p:spPr>
          <a:xfrm>
            <a:off x="496119" y="1440061"/>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1E3063"/>
                </a:solidFill>
                <a:latin typeface="Instrument Sans Light" pitchFamily="34" charset="0"/>
                <a:ea typeface="Instrument Sans Light" pitchFamily="34" charset="-122"/>
                <a:cs typeface="Instrument Sans Light" pitchFamily="34" charset="-120"/>
              </a:rPr>
              <a:t>01</a:t>
            </a:r>
            <a:endParaRPr lang="en-US" sz="1100" dirty="0"/>
          </a:p>
        </p:txBody>
      </p:sp>
      <p:sp>
        <p:nvSpPr>
          <p:cNvPr id="4" name="Shape 2"/>
          <p:cNvSpPr/>
          <p:nvPr/>
        </p:nvSpPr>
        <p:spPr>
          <a:xfrm>
            <a:off x="496119" y="1661964"/>
            <a:ext cx="2622724" cy="19050"/>
          </a:xfrm>
          <a:prstGeom prst="rect">
            <a:avLst/>
          </a:prstGeom>
          <a:solidFill>
            <a:srgbClr val="84C1FA"/>
          </a:solidFill>
          <a:ln/>
        </p:spPr>
        <p:txBody>
          <a:bodyPr/>
          <a:lstStyle/>
          <a:p>
            <a:endParaRPr lang="es-ES"/>
          </a:p>
        </p:txBody>
      </p:sp>
      <p:sp>
        <p:nvSpPr>
          <p:cNvPr id="5" name="Text 3"/>
          <p:cNvSpPr/>
          <p:nvPr/>
        </p:nvSpPr>
        <p:spPr>
          <a:xfrm>
            <a:off x="496119" y="1770906"/>
            <a:ext cx="1772022"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Alta mortalidad</a:t>
            </a:r>
            <a:endParaRPr lang="en-US" sz="1350" dirty="0"/>
          </a:p>
        </p:txBody>
      </p:sp>
      <p:sp>
        <p:nvSpPr>
          <p:cNvPr id="6" name="Text 4"/>
          <p:cNvSpPr/>
          <p:nvPr/>
        </p:nvSpPr>
        <p:spPr>
          <a:xfrm>
            <a:off x="496119" y="2077417"/>
            <a:ext cx="2622724"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El 61,6% de los pasajeros falleció — una de las mayores tasas de mortalidad en desastres navales de la historia moderna.</a:t>
            </a:r>
            <a:endParaRPr lang="en-US" sz="1100" dirty="0"/>
          </a:p>
        </p:txBody>
      </p:sp>
      <p:sp>
        <p:nvSpPr>
          <p:cNvPr id="7" name="Text 5"/>
          <p:cNvSpPr/>
          <p:nvPr/>
        </p:nvSpPr>
        <p:spPr>
          <a:xfrm>
            <a:off x="3260601" y="1440061"/>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1E3063"/>
                </a:solidFill>
                <a:latin typeface="Instrument Sans Light" pitchFamily="34" charset="0"/>
                <a:ea typeface="Instrument Sans Light" pitchFamily="34" charset="-122"/>
                <a:cs typeface="Instrument Sans Light" pitchFamily="34" charset="-120"/>
              </a:rPr>
              <a:t>02</a:t>
            </a:r>
            <a:endParaRPr lang="en-US" sz="1100" dirty="0"/>
          </a:p>
        </p:txBody>
      </p:sp>
      <p:sp>
        <p:nvSpPr>
          <p:cNvPr id="8" name="Shape 6"/>
          <p:cNvSpPr/>
          <p:nvPr/>
        </p:nvSpPr>
        <p:spPr>
          <a:xfrm>
            <a:off x="3260601" y="1661964"/>
            <a:ext cx="2622724" cy="19050"/>
          </a:xfrm>
          <a:prstGeom prst="rect">
            <a:avLst/>
          </a:prstGeom>
          <a:solidFill>
            <a:srgbClr val="84C1FA"/>
          </a:solidFill>
          <a:ln/>
        </p:spPr>
        <p:txBody>
          <a:bodyPr/>
          <a:lstStyle/>
          <a:p>
            <a:endParaRPr lang="es-ES"/>
          </a:p>
        </p:txBody>
      </p:sp>
      <p:sp>
        <p:nvSpPr>
          <p:cNvPr id="9" name="Text 7"/>
          <p:cNvSpPr/>
          <p:nvPr/>
        </p:nvSpPr>
        <p:spPr>
          <a:xfrm>
            <a:off x="3260601" y="1770906"/>
            <a:ext cx="2622724"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«Mujeres y niños primero» fue real</a:t>
            </a:r>
            <a:endParaRPr lang="en-US" sz="1350" dirty="0"/>
          </a:p>
        </p:txBody>
      </p:sp>
      <p:sp>
        <p:nvSpPr>
          <p:cNvPr id="10" name="Text 8"/>
          <p:cNvSpPr/>
          <p:nvPr/>
        </p:nvSpPr>
        <p:spPr>
          <a:xfrm>
            <a:off x="3260601" y="2298874"/>
            <a:ext cx="2622724"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Las mujeres sobrevivieron al 75,6% y los niños al 58%, frente al 16,4% de los hombres.</a:t>
            </a:r>
            <a:endParaRPr lang="en-US" sz="1100" dirty="0"/>
          </a:p>
        </p:txBody>
      </p:sp>
      <p:sp>
        <p:nvSpPr>
          <p:cNvPr id="11" name="Text 9"/>
          <p:cNvSpPr/>
          <p:nvPr/>
        </p:nvSpPr>
        <p:spPr>
          <a:xfrm>
            <a:off x="6025083" y="1440061"/>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1E3063"/>
                </a:solidFill>
                <a:latin typeface="Instrument Sans Light" pitchFamily="34" charset="0"/>
                <a:ea typeface="Instrument Sans Light" pitchFamily="34" charset="-122"/>
                <a:cs typeface="Instrument Sans Light" pitchFamily="34" charset="-120"/>
              </a:rPr>
              <a:t>03</a:t>
            </a:r>
            <a:endParaRPr lang="en-US" sz="1100" dirty="0"/>
          </a:p>
        </p:txBody>
      </p:sp>
      <p:sp>
        <p:nvSpPr>
          <p:cNvPr id="12" name="Shape 10"/>
          <p:cNvSpPr/>
          <p:nvPr/>
        </p:nvSpPr>
        <p:spPr>
          <a:xfrm>
            <a:off x="6025083" y="1661964"/>
            <a:ext cx="2622724" cy="19050"/>
          </a:xfrm>
          <a:prstGeom prst="rect">
            <a:avLst/>
          </a:prstGeom>
          <a:solidFill>
            <a:srgbClr val="84C1FA"/>
          </a:solidFill>
          <a:ln/>
        </p:spPr>
        <p:txBody>
          <a:bodyPr/>
          <a:lstStyle/>
          <a:p>
            <a:endParaRPr lang="es-ES"/>
          </a:p>
        </p:txBody>
      </p:sp>
      <p:sp>
        <p:nvSpPr>
          <p:cNvPr id="13" name="Text 11"/>
          <p:cNvSpPr/>
          <p:nvPr/>
        </p:nvSpPr>
        <p:spPr>
          <a:xfrm>
            <a:off x="6025083" y="1770906"/>
            <a:ext cx="2622724" cy="442913"/>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La clase social fue determinante</a:t>
            </a:r>
            <a:endParaRPr lang="en-US" sz="1350" dirty="0"/>
          </a:p>
        </p:txBody>
      </p:sp>
      <p:sp>
        <p:nvSpPr>
          <p:cNvPr id="14" name="Text 12"/>
          <p:cNvSpPr/>
          <p:nvPr/>
        </p:nvSpPr>
        <p:spPr>
          <a:xfrm>
            <a:off x="6025083" y="2298874"/>
            <a:ext cx="2622724"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De un 63% en primera clase a un 24,2% en tercera: la brecha es innegable.</a:t>
            </a:r>
            <a:endParaRPr lang="en-US" sz="1100" dirty="0"/>
          </a:p>
        </p:txBody>
      </p:sp>
      <p:sp>
        <p:nvSpPr>
          <p:cNvPr id="15" name="Text 13"/>
          <p:cNvSpPr/>
          <p:nvPr/>
        </p:nvSpPr>
        <p:spPr>
          <a:xfrm>
            <a:off x="496119" y="3232696"/>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1E3063"/>
                </a:solidFill>
                <a:latin typeface="Instrument Sans Light" pitchFamily="34" charset="0"/>
                <a:ea typeface="Instrument Sans Light" pitchFamily="34" charset="-122"/>
                <a:cs typeface="Instrument Sans Light" pitchFamily="34" charset="-120"/>
              </a:rPr>
              <a:t>04</a:t>
            </a:r>
            <a:endParaRPr lang="en-US" sz="1100" dirty="0"/>
          </a:p>
        </p:txBody>
      </p:sp>
      <p:sp>
        <p:nvSpPr>
          <p:cNvPr id="16" name="Shape 14"/>
          <p:cNvSpPr/>
          <p:nvPr/>
        </p:nvSpPr>
        <p:spPr>
          <a:xfrm>
            <a:off x="496119" y="3454598"/>
            <a:ext cx="4004965" cy="19050"/>
          </a:xfrm>
          <a:prstGeom prst="rect">
            <a:avLst/>
          </a:prstGeom>
          <a:solidFill>
            <a:srgbClr val="84C1FA"/>
          </a:solidFill>
          <a:ln/>
        </p:spPr>
        <p:txBody>
          <a:bodyPr/>
          <a:lstStyle/>
          <a:p>
            <a:endParaRPr lang="es-ES"/>
          </a:p>
        </p:txBody>
      </p:sp>
      <p:sp>
        <p:nvSpPr>
          <p:cNvPr id="17" name="Text 15"/>
          <p:cNvSpPr/>
          <p:nvPr/>
        </p:nvSpPr>
        <p:spPr>
          <a:xfrm>
            <a:off x="496119" y="3563541"/>
            <a:ext cx="3868564"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La distribución por clase explica las diferencias</a:t>
            </a:r>
            <a:endParaRPr lang="en-US" sz="1350" dirty="0"/>
          </a:p>
        </p:txBody>
      </p:sp>
      <p:sp>
        <p:nvSpPr>
          <p:cNvPr id="18" name="Text 16"/>
          <p:cNvSpPr/>
          <p:nvPr/>
        </p:nvSpPr>
        <p:spPr>
          <a:xfrm>
            <a:off x="496119" y="3870052"/>
            <a:ext cx="400496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El 70% de los niños viajaba en tercera clase, lo que redujo sus probabilidades respecto a las mujeres.</a:t>
            </a:r>
            <a:endParaRPr lang="en-US" sz="1100" dirty="0"/>
          </a:p>
        </p:txBody>
      </p:sp>
      <p:sp>
        <p:nvSpPr>
          <p:cNvPr id="19" name="Text 17"/>
          <p:cNvSpPr/>
          <p:nvPr/>
        </p:nvSpPr>
        <p:spPr>
          <a:xfrm>
            <a:off x="4642842" y="3232696"/>
            <a:ext cx="283518" cy="177180"/>
          </a:xfrm>
          <a:prstGeom prst="rect">
            <a:avLst/>
          </a:prstGeom>
          <a:noFill/>
          <a:ln/>
        </p:spPr>
        <p:txBody>
          <a:bodyPr wrap="none" lIns="0" tIns="0" rIns="0" bIns="0" rtlCol="0" anchor="ctr"/>
          <a:lstStyle/>
          <a:p>
            <a:pPr marL="0" indent="0" algn="l">
              <a:lnSpc>
                <a:spcPct val="100000"/>
              </a:lnSpc>
              <a:buNone/>
            </a:pPr>
            <a:r>
              <a:rPr lang="en-US" sz="1100" dirty="0">
                <a:solidFill>
                  <a:srgbClr val="1E3063"/>
                </a:solidFill>
                <a:latin typeface="Instrument Sans Light" pitchFamily="34" charset="0"/>
                <a:ea typeface="Instrument Sans Light" pitchFamily="34" charset="-122"/>
                <a:cs typeface="Instrument Sans Light" pitchFamily="34" charset="-120"/>
              </a:rPr>
              <a:t>05</a:t>
            </a:r>
            <a:endParaRPr lang="en-US" sz="1100" dirty="0"/>
          </a:p>
        </p:txBody>
      </p:sp>
      <p:sp>
        <p:nvSpPr>
          <p:cNvPr id="20" name="Shape 18"/>
          <p:cNvSpPr/>
          <p:nvPr/>
        </p:nvSpPr>
        <p:spPr>
          <a:xfrm>
            <a:off x="4642842" y="3454598"/>
            <a:ext cx="4004965" cy="19050"/>
          </a:xfrm>
          <a:prstGeom prst="rect">
            <a:avLst/>
          </a:prstGeom>
          <a:solidFill>
            <a:srgbClr val="84C1FA"/>
          </a:solidFill>
          <a:ln/>
        </p:spPr>
        <p:txBody>
          <a:bodyPr/>
          <a:lstStyle/>
          <a:p>
            <a:endParaRPr lang="es-ES"/>
          </a:p>
        </p:txBody>
      </p:sp>
      <p:sp>
        <p:nvSpPr>
          <p:cNvPr id="21" name="Text 19"/>
          <p:cNvSpPr/>
          <p:nvPr/>
        </p:nvSpPr>
        <p:spPr>
          <a:xfrm>
            <a:off x="4642842" y="3563541"/>
            <a:ext cx="3042345" cy="221456"/>
          </a:xfrm>
          <a:prstGeom prst="rect">
            <a:avLst/>
          </a:prstGeom>
          <a:noFill/>
          <a:ln/>
        </p:spPr>
        <p:txBody>
          <a:bodyPr wrap="none" lIns="0" tIns="0" rIns="0" bIns="0" rtlCol="0" anchor="t"/>
          <a:lstStyle/>
          <a:p>
            <a:pPr marL="0" indent="0" algn="l">
              <a:lnSpc>
                <a:spcPct val="104000"/>
              </a:lnSpc>
              <a:buNone/>
            </a:pPr>
            <a:r>
              <a:rPr lang="en-US" sz="1350" dirty="0">
                <a:solidFill>
                  <a:srgbClr val="1E3063"/>
                </a:solidFill>
                <a:latin typeface="Instrument Sans SemiBold" pitchFamily="34" charset="0"/>
                <a:ea typeface="Instrument Sans SemiBold" pitchFamily="34" charset="-122"/>
                <a:cs typeface="Instrument Sans SemiBold" pitchFamily="34" charset="-120"/>
              </a:rPr>
              <a:t>El puerto era un proxy de clase social</a:t>
            </a:r>
            <a:endParaRPr lang="en-US" sz="1350" dirty="0"/>
          </a:p>
        </p:txBody>
      </p:sp>
      <p:sp>
        <p:nvSpPr>
          <p:cNvPr id="22" name="Text 20"/>
          <p:cNvSpPr/>
          <p:nvPr/>
        </p:nvSpPr>
        <p:spPr>
          <a:xfrm>
            <a:off x="4642842" y="3870052"/>
            <a:ext cx="400496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E3063"/>
                </a:solidFill>
                <a:latin typeface="Instrument Sans Medium" pitchFamily="34" charset="0"/>
                <a:ea typeface="Instrument Sans Medium" pitchFamily="34" charset="-122"/>
                <a:cs typeface="Instrument Sans Medium" pitchFamily="34" charset="-120"/>
              </a:rPr>
              <a:t>Las diferencias por puerto de embarque desaparecen al controlar por clase: el factor real siempre fue el tipo de billete.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TotalTime>
  <Words>827</Words>
  <Application>Microsoft Office PowerPoint</Application>
  <PresentationFormat>Presentación en pantalla (16:9)</PresentationFormat>
  <Paragraphs>74</Paragraphs>
  <Slides>9</Slides>
  <Notes>9</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9</vt:i4>
      </vt:variant>
    </vt:vector>
  </HeadingPairs>
  <TitlesOfParts>
    <vt:vector size="14" baseType="lpstr">
      <vt:lpstr>Instrument Sans SemiBold</vt:lpstr>
      <vt:lpstr>Instrument Sans Light</vt:lpstr>
      <vt:lpstr>Instrument Sans Medium</vt:lpstr>
      <vt:lpstr>Arial</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Emilio Garrote Sanchez</cp:lastModifiedBy>
  <cp:revision>2</cp:revision>
  <dcterms:created xsi:type="dcterms:W3CDTF">2026-05-25T10:24:48Z</dcterms:created>
  <dcterms:modified xsi:type="dcterms:W3CDTF">2026-05-25T10:33:54Z</dcterms:modified>
</cp:coreProperties>
</file>